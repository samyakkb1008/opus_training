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11269C-B387-3B63-350D-560957F350AB}" v="88" dt="2026-04-01T17:17:30.109"/>
    <p1510:client id="{B2C89C7C-ABA2-806E-A865-6AB5CCDE983D}" v="1" dt="2026-04-02T10:17:38.778"/>
    <p1510:client id="{D5C7DD88-46D3-5CBC-057F-06B29AE672C9}" v="698" dt="2026-04-02T09:23:13.2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9ED0F-74A5-4936-B0DB-166DE006D759}" type="datetimeFigureOut">
              <a:t>4/2/2026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8ED508-28CB-4A9F-8151-5DD5C9C9900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479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109728" cy="5143500"/>
          </a:xfrm>
          <a:prstGeom prst="rect">
            <a:avLst/>
          </a:prstGeom>
          <a:solidFill>
            <a:srgbClr val="0A5A66"/>
          </a:solidFill>
          <a:ln w="12700">
            <a:solidFill>
              <a:srgbClr val="0A5A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0"/>
            <a:ext cx="1371600" cy="1645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7772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AI Subscription &amp;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14173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7E8C"/>
                </a:solidFill>
              </a:rPr>
              <a:t>Auto-Debit Intelligence System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914400" y="2212848"/>
            <a:ext cx="32004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573893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i="1" dirty="0" err="1">
                <a:solidFill>
                  <a:srgbClr val="CBD5E1"/>
                </a:solidFill>
                <a:latin typeface="Baskerville Old Face"/>
              </a:rPr>
              <a:t>SubIntel</a:t>
            </a:r>
            <a:endParaRPr lang="en-US" sz="5400" i="1">
              <a:solidFill>
                <a:srgbClr val="CBD5E1"/>
              </a:solidFill>
              <a:latin typeface="Baskerville Old Face"/>
              <a:ea typeface="Calibri"/>
              <a:cs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1440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Team 7  |  Mansi &amp; Samyak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7365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CBD5E1"/>
                </a:solidFill>
              </a:rPr>
              <a:t>2</a:t>
            </a:r>
            <a:r>
              <a:rPr lang="en-US" sz="1100" baseline="30000">
                <a:solidFill>
                  <a:srgbClr val="CBD5E1"/>
                </a:solidFill>
              </a:rPr>
              <a:t>nd </a:t>
            </a:r>
            <a:r>
              <a:rPr lang="en-US" sz="1100">
                <a:solidFill>
                  <a:srgbClr val="CBD5E1"/>
                </a:solidFill>
              </a:rPr>
              <a:t>April 2026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Problem Statement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901" y="731091"/>
            <a:ext cx="8421409" cy="345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A7E8C"/>
                </a:solidFill>
                <a:ea typeface="Calibri"/>
                <a:cs typeface="Calibri"/>
              </a:rPr>
              <a:t>Why does this system need to exist?</a:t>
            </a:r>
            <a:endParaRPr lang="en-US" sz="140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Team 7  |  Mansi &amp; Samyak  |  AI Subscription &amp; Auto-Debit Intelligence System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078992"/>
            <a:ext cx="8372901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78992"/>
            <a:ext cx="106657" cy="3566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70432"/>
            <a:ext cx="776830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Key Customer Pain Points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7568" y="1572768"/>
            <a:ext cx="6131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⚠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14400" y="1572768"/>
            <a:ext cx="700403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Users forget active subscriptions — money leaks silently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920" y="2139696"/>
            <a:ext cx="6131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💳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14400" y="2139696"/>
            <a:ext cx="700403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Auto-debits fail due to insufficient balance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2706624"/>
            <a:ext cx="6131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🔍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14400" y="2706624"/>
            <a:ext cx="700403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Subscriptions buried in transaction history — hard to spot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3273552"/>
            <a:ext cx="6131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📅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14400" y="3273552"/>
            <a:ext cx="700403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No advance warning before next debit date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3840480"/>
            <a:ext cx="6131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📉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14400" y="3840480"/>
            <a:ext cx="700403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Failed transactions lead to penalties &amp; merchant revenue loss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Solution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56831" y="695373"/>
            <a:ext cx="8448198" cy="40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7E8C"/>
                </a:solidFill>
              </a:rPr>
              <a:t>What </a:t>
            </a:r>
            <a:r>
              <a:rPr lang="en-US" sz="1400" b="1" dirty="0" err="1">
                <a:solidFill>
                  <a:srgbClr val="0A7E8C"/>
                </a:solidFill>
              </a:rPr>
              <a:t>SubIntel</a:t>
            </a:r>
            <a:r>
              <a:rPr lang="en-US" sz="1400" b="1" dirty="0">
                <a:solidFill>
                  <a:srgbClr val="0A7E8C"/>
                </a:solidFill>
              </a:rPr>
              <a:t> builds: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Team 7  |  Mansi &amp; Samyak  |  AI Subscription &amp; Auto-Debit Intelligence System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15568"/>
            <a:ext cx="64008" cy="150876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2070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NLP Detection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55448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64748B"/>
                </a:solidFill>
              </a:rPr>
              <a:t>TF-IDF + Logistic Regression identifies subscription transactions with 99.81% accuracy</a:t>
            </a:r>
            <a:endParaRPr lang="en-US" sz="105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00400" y="1115568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115568"/>
            <a:ext cx="64008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2070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Pattern Engine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155448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64748B"/>
                </a:solidFill>
              </a:rPr>
              <a:t>Detects monthly/weekly recurring patterns across 74,582 confirmed subscriptions</a:t>
            </a:r>
            <a:endParaRPr lang="en-US" sz="105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80760" y="1115568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115568"/>
            <a:ext cx="64008" cy="1508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2070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ML Prediction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155448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64748B"/>
                </a:solidFill>
              </a:rPr>
              <a:t>ARIMA(1,0,0) + Linear Regression predicts next debit date &amp; amount for 3,068 entries</a:t>
            </a:r>
            <a:endParaRPr lang="en-US" sz="105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20040" y="2807208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807208"/>
            <a:ext cx="64008" cy="1508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8986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Risk Scoring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324612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64748B"/>
                </a:solidFill>
              </a:rPr>
              <a:t>Gradient Boosting classifies customers into Low / Medium / High debit failure risk</a:t>
            </a:r>
            <a:endParaRPr lang="en-US" sz="105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200400" y="2807208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807208"/>
            <a:ext cx="64008" cy="1508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28986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GenAI Alerts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83280" y="324612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64748B"/>
                </a:solidFill>
              </a:rPr>
              <a:t>Structured Phi-2 powered alerts with actionable suggestions — 1,200 alerts generated</a:t>
            </a:r>
            <a:endParaRPr lang="en-US" sz="105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080760" y="2807208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80760" y="2807208"/>
            <a:ext cx="64008" cy="1508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28986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Dashboard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263640" y="324612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64748B"/>
                </a:solidFill>
              </a:rPr>
              <a:t>Streamlit + Plotly interactive UI with login, filters, risk cards, and spend charts</a:t>
            </a:r>
            <a:endParaRPr lang="en-US" sz="1050"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System Architecture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Team 7  |  Mansi &amp; Samyak  |  AI Subscription &amp; Auto-Debit Intelligence System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7472" y="1280160"/>
            <a:ext cx="749808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" y="129844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</a:rPr>
              <a:t>FR1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7472" y="1536192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Dataset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Generator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97280" y="1668780"/>
            <a:ext cx="192024" cy="0"/>
          </a:xfrm>
          <a:prstGeom prst="line">
            <a:avLst/>
          </a:prstGeom>
          <a:noFill/>
          <a:ln w="19050">
            <a:solidFill>
              <a:srgbClr val="0A7E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89304" y="1280160"/>
            <a:ext cx="749808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289304" y="129844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</a:rPr>
              <a:t>FR2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289304" y="1536192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Cleaning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039112" y="1668780"/>
            <a:ext cx="192024" cy="0"/>
          </a:xfrm>
          <a:prstGeom prst="line">
            <a:avLst/>
          </a:prstGeom>
          <a:noFill/>
          <a:ln w="19050">
            <a:solidFill>
              <a:srgbClr val="0A7E8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31136" y="1280160"/>
            <a:ext cx="749808" cy="7772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31136" y="129844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</a:rPr>
              <a:t>FR3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231136" y="1536192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NLP Sub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Detection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80944" y="1668780"/>
            <a:ext cx="192024" cy="0"/>
          </a:xfrm>
          <a:prstGeom prst="line">
            <a:avLst/>
          </a:prstGeom>
          <a:noFill/>
          <a:ln w="19050">
            <a:solidFill>
              <a:srgbClr val="0A7E8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72968" y="1280160"/>
            <a:ext cx="749808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172968" y="129844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</a:rPr>
              <a:t>FR4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172968" y="1536192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Pattern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Detection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922776" y="1668780"/>
            <a:ext cx="192024" cy="0"/>
          </a:xfrm>
          <a:prstGeom prst="line">
            <a:avLst/>
          </a:prstGeom>
          <a:noFill/>
          <a:ln w="19050">
            <a:solidFill>
              <a:srgbClr val="0A7E8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1280160"/>
            <a:ext cx="749808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114800" y="129844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FR5</a:t>
            </a:r>
            <a:endParaRPr lang="en-US" sz="105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114800" y="1536192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Debit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Prediction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64608" y="1668780"/>
            <a:ext cx="192024" cy="0"/>
          </a:xfrm>
          <a:prstGeom prst="line">
            <a:avLst/>
          </a:prstGeom>
          <a:noFill/>
          <a:ln w="19050">
            <a:solidFill>
              <a:srgbClr val="0A7E8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56632" y="1280160"/>
            <a:ext cx="749808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56632" y="129844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</a:rPr>
              <a:t>FR6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56632" y="1536192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Risk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Scoring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806440" y="1668780"/>
            <a:ext cx="192024" cy="0"/>
          </a:xfrm>
          <a:prstGeom prst="line">
            <a:avLst/>
          </a:prstGeom>
          <a:noFill/>
          <a:ln w="19050">
            <a:solidFill>
              <a:srgbClr val="0A7E8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98464" y="1280160"/>
            <a:ext cx="749808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998464" y="129844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</a:rPr>
              <a:t>FR7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998464" y="1536192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GenAI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Alerts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748272" y="1668780"/>
            <a:ext cx="192024" cy="0"/>
          </a:xfrm>
          <a:prstGeom prst="line">
            <a:avLst/>
          </a:prstGeom>
          <a:noFill/>
          <a:ln w="19050">
            <a:solidFill>
              <a:srgbClr val="0A7E8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40296" y="1280160"/>
            <a:ext cx="749808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940296" y="129844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</a:rPr>
              <a:t>FR8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940296" y="1536192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Insights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Gen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690104" y="1668780"/>
            <a:ext cx="192024" cy="0"/>
          </a:xfrm>
          <a:prstGeom prst="line">
            <a:avLst/>
          </a:prstGeom>
          <a:noFill/>
          <a:ln w="19050">
            <a:solidFill>
              <a:srgbClr val="0A7E8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882128" y="1280160"/>
            <a:ext cx="749808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882128" y="129844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</a:rPr>
              <a:t>FR9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882128" y="1536192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Dashboard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UI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40315" y="2572822"/>
            <a:ext cx="1350884" cy="229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7E8C"/>
                </a:solidFill>
              </a:rPr>
              <a:t>O/P:</a:t>
            </a:r>
            <a:endParaRPr lang="en-US" sz="1200" b="1">
              <a:ea typeface="Calibri"/>
              <a:cs typeface="Calibri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347472" y="2838855"/>
            <a:ext cx="749808" cy="915402"/>
          </a:xfrm>
          <a:prstGeom prst="rect">
            <a:avLst/>
          </a:prstGeom>
          <a:solidFill>
            <a:srgbClr val="EBF5FB"/>
          </a:solidFill>
          <a:ln w="9525">
            <a:solidFill>
              <a:srgbClr val="0A7E8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6401" y="2838855"/>
            <a:ext cx="740879" cy="897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7E8C"/>
                </a:solidFill>
              </a:rPr>
              <a:t>transactions_raw.csv</a:t>
            </a:r>
            <a:endParaRPr lang="en-US" sz="900" b="1" dirty="0"/>
          </a:p>
        </p:txBody>
      </p:sp>
      <p:sp>
        <p:nvSpPr>
          <p:cNvPr id="46" name="Shape 44"/>
          <p:cNvSpPr/>
          <p:nvPr/>
        </p:nvSpPr>
        <p:spPr>
          <a:xfrm>
            <a:off x="1289304" y="2838855"/>
            <a:ext cx="749808" cy="915402"/>
          </a:xfrm>
          <a:prstGeom prst="rect">
            <a:avLst/>
          </a:prstGeom>
          <a:solidFill>
            <a:srgbClr val="EBF5FB"/>
          </a:solidFill>
          <a:ln w="9525">
            <a:solidFill>
              <a:srgbClr val="0A7E8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289304" y="2838855"/>
            <a:ext cx="749808" cy="915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7E8C"/>
                </a:solidFill>
              </a:rPr>
              <a:t>transactions_cleaned.csv</a:t>
            </a:r>
            <a:endParaRPr lang="en-US" sz="900" b="1" dirty="0"/>
          </a:p>
        </p:txBody>
      </p:sp>
      <p:sp>
        <p:nvSpPr>
          <p:cNvPr id="48" name="Shape 46"/>
          <p:cNvSpPr/>
          <p:nvPr/>
        </p:nvSpPr>
        <p:spPr>
          <a:xfrm>
            <a:off x="2231136" y="2838855"/>
            <a:ext cx="749808" cy="915402"/>
          </a:xfrm>
          <a:prstGeom prst="rect">
            <a:avLst/>
          </a:prstGeom>
          <a:solidFill>
            <a:srgbClr val="EBF5FB"/>
          </a:solidFill>
          <a:ln w="9525">
            <a:solidFill>
              <a:srgbClr val="0A7E8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31136" y="2838855"/>
            <a:ext cx="749808" cy="915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7E8C"/>
                </a:solidFill>
              </a:rPr>
              <a:t>transactions_nlp.csv</a:t>
            </a:r>
            <a:endParaRPr lang="en-US" sz="900" b="1" dirty="0"/>
          </a:p>
        </p:txBody>
      </p:sp>
      <p:sp>
        <p:nvSpPr>
          <p:cNvPr id="50" name="Shape 48"/>
          <p:cNvSpPr/>
          <p:nvPr/>
        </p:nvSpPr>
        <p:spPr>
          <a:xfrm>
            <a:off x="3172968" y="2838855"/>
            <a:ext cx="749808" cy="915402"/>
          </a:xfrm>
          <a:prstGeom prst="rect">
            <a:avLst/>
          </a:prstGeom>
          <a:solidFill>
            <a:srgbClr val="EBF5FB"/>
          </a:solidFill>
          <a:ln w="9525">
            <a:solidFill>
              <a:srgbClr val="0A7E8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172968" y="2838855"/>
            <a:ext cx="749808" cy="915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7E8C"/>
                </a:solidFill>
              </a:rPr>
              <a:t>recurring_summary.csv</a:t>
            </a:r>
            <a:endParaRPr lang="en-US" sz="900" b="1" dirty="0"/>
          </a:p>
        </p:txBody>
      </p:sp>
      <p:sp>
        <p:nvSpPr>
          <p:cNvPr id="52" name="Shape 50"/>
          <p:cNvSpPr/>
          <p:nvPr/>
        </p:nvSpPr>
        <p:spPr>
          <a:xfrm>
            <a:off x="4114800" y="2838855"/>
            <a:ext cx="749808" cy="915402"/>
          </a:xfrm>
          <a:prstGeom prst="rect">
            <a:avLst/>
          </a:prstGeom>
          <a:solidFill>
            <a:srgbClr val="EBF5FB"/>
          </a:solidFill>
          <a:ln w="9525">
            <a:solidFill>
              <a:srgbClr val="0A7E8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0" y="2838855"/>
            <a:ext cx="749808" cy="915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7E8C"/>
                </a:solidFill>
              </a:rPr>
              <a:t>predictions.csv</a:t>
            </a:r>
            <a:endParaRPr lang="en-US" sz="900" b="1" dirty="0"/>
          </a:p>
        </p:txBody>
      </p:sp>
      <p:sp>
        <p:nvSpPr>
          <p:cNvPr id="54" name="Shape 52"/>
          <p:cNvSpPr/>
          <p:nvPr/>
        </p:nvSpPr>
        <p:spPr>
          <a:xfrm>
            <a:off x="5056632" y="2838855"/>
            <a:ext cx="749808" cy="915402"/>
          </a:xfrm>
          <a:prstGeom prst="rect">
            <a:avLst/>
          </a:prstGeom>
          <a:solidFill>
            <a:srgbClr val="EBF5FB"/>
          </a:solidFill>
          <a:ln w="9525">
            <a:solidFill>
              <a:srgbClr val="0A7E8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56632" y="2838855"/>
            <a:ext cx="749808" cy="915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7E8C"/>
                </a:solidFill>
              </a:rPr>
              <a:t>risk_scored.csv</a:t>
            </a:r>
            <a:endParaRPr lang="en-US" sz="900" b="1" dirty="0"/>
          </a:p>
        </p:txBody>
      </p:sp>
      <p:sp>
        <p:nvSpPr>
          <p:cNvPr id="56" name="Shape 54"/>
          <p:cNvSpPr/>
          <p:nvPr/>
        </p:nvSpPr>
        <p:spPr>
          <a:xfrm>
            <a:off x="5998464" y="2838855"/>
            <a:ext cx="749808" cy="915402"/>
          </a:xfrm>
          <a:prstGeom prst="rect">
            <a:avLst/>
          </a:prstGeom>
          <a:solidFill>
            <a:srgbClr val="EBF5FB"/>
          </a:solidFill>
          <a:ln w="9525">
            <a:solidFill>
              <a:srgbClr val="0A7E8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98464" y="2838855"/>
            <a:ext cx="749808" cy="915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7E8C"/>
                </a:solidFill>
              </a:rPr>
              <a:t>alerts.txt</a:t>
            </a:r>
            <a:endParaRPr lang="en-US" sz="900" b="1" dirty="0"/>
          </a:p>
        </p:txBody>
      </p:sp>
      <p:sp>
        <p:nvSpPr>
          <p:cNvPr id="58" name="Shape 56"/>
          <p:cNvSpPr/>
          <p:nvPr/>
        </p:nvSpPr>
        <p:spPr>
          <a:xfrm>
            <a:off x="6940296" y="2838855"/>
            <a:ext cx="749808" cy="915402"/>
          </a:xfrm>
          <a:prstGeom prst="rect">
            <a:avLst/>
          </a:prstGeom>
          <a:solidFill>
            <a:srgbClr val="EBF5FB"/>
          </a:solidFill>
          <a:ln w="9525">
            <a:solidFill>
              <a:srgbClr val="0A7E8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940296" y="2838855"/>
            <a:ext cx="749808" cy="915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7E8C"/>
                </a:solidFill>
              </a:rPr>
              <a:t>customer_insights.csv</a:t>
            </a:r>
            <a:endParaRPr lang="en-US" sz="900" b="1">
              <a:ea typeface="Calibri"/>
              <a:cs typeface="Calibri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7882128" y="2838855"/>
            <a:ext cx="749808" cy="915402"/>
          </a:xfrm>
          <a:prstGeom prst="rect">
            <a:avLst/>
          </a:prstGeom>
          <a:solidFill>
            <a:srgbClr val="EBF5FB"/>
          </a:solidFill>
          <a:ln w="9525">
            <a:solidFill>
              <a:srgbClr val="0A7E8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882128" y="2838855"/>
            <a:ext cx="749808" cy="915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7E8C"/>
                </a:solidFill>
              </a:rPr>
              <a:t>Dashboard</a:t>
            </a:r>
            <a:endParaRPr lang="en-US" sz="900" b="1" dirty="0"/>
          </a:p>
        </p:txBody>
      </p:sp>
      <p:sp>
        <p:nvSpPr>
          <p:cNvPr id="62" name="Text 60"/>
          <p:cNvSpPr/>
          <p:nvPr/>
        </p:nvSpPr>
        <p:spPr>
          <a:xfrm>
            <a:off x="240316" y="42976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7E8C"/>
                </a:solidFill>
              </a:rPr>
              <a:t>Saved Models: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2087404" y="4244745"/>
            <a:ext cx="1600200" cy="347472"/>
          </a:xfrm>
          <a:prstGeom prst="rect">
            <a:avLst/>
          </a:prstGeom>
          <a:solidFill>
            <a:srgbClr val="F0FFF4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087404" y="4244745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F46"/>
                </a:solidFill>
              </a:rPr>
              <a:t>nlp_model.pkl</a:t>
            </a:r>
            <a:endParaRPr lang="en-US" sz="1100" b="1" dirty="0"/>
          </a:p>
        </p:txBody>
      </p:sp>
      <p:sp>
        <p:nvSpPr>
          <p:cNvPr id="65" name="Shape 63"/>
          <p:cNvSpPr/>
          <p:nvPr/>
        </p:nvSpPr>
        <p:spPr>
          <a:xfrm>
            <a:off x="3824764" y="4244745"/>
            <a:ext cx="1600200" cy="347472"/>
          </a:xfrm>
          <a:prstGeom prst="rect">
            <a:avLst/>
          </a:prstGeom>
          <a:solidFill>
            <a:srgbClr val="F0FFF4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824764" y="4244745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F46"/>
                </a:solidFill>
              </a:rPr>
              <a:t>subscription_model.pkl</a:t>
            </a:r>
            <a:endParaRPr lang="en-US" sz="1100" b="1" dirty="0"/>
          </a:p>
        </p:txBody>
      </p:sp>
      <p:sp>
        <p:nvSpPr>
          <p:cNvPr id="67" name="Shape 65"/>
          <p:cNvSpPr/>
          <p:nvPr/>
        </p:nvSpPr>
        <p:spPr>
          <a:xfrm>
            <a:off x="5562124" y="4244745"/>
            <a:ext cx="1600200" cy="347472"/>
          </a:xfrm>
          <a:prstGeom prst="rect">
            <a:avLst/>
          </a:prstGeom>
          <a:solidFill>
            <a:srgbClr val="F0FFF4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562124" y="4244745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F46"/>
                </a:solidFill>
              </a:rPr>
              <a:t>prediction_model.pkl</a:t>
            </a:r>
            <a:endParaRPr lang="en-US" sz="1100" b="1" dirty="0"/>
          </a:p>
        </p:txBody>
      </p:sp>
      <p:sp>
        <p:nvSpPr>
          <p:cNvPr id="69" name="Shape 67"/>
          <p:cNvSpPr/>
          <p:nvPr/>
        </p:nvSpPr>
        <p:spPr>
          <a:xfrm>
            <a:off x="7299484" y="4244745"/>
            <a:ext cx="1600200" cy="347472"/>
          </a:xfrm>
          <a:prstGeom prst="rect">
            <a:avLst/>
          </a:prstGeom>
          <a:solidFill>
            <a:srgbClr val="F0FFF4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299484" y="4244745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065F46"/>
                </a:solidFill>
              </a:rPr>
              <a:t>risk_model.pkl</a:t>
            </a:r>
            <a:endParaRPr lang="en-US" sz="1100" b="1">
              <a:ea typeface="Calibri"/>
              <a:cs typeface="Calibri"/>
            </a:endParaRP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8E5B4622-1209-E70F-291B-0E1047AF4065}"/>
              </a:ext>
            </a:extLst>
          </p:cNvPr>
          <p:cNvCxnSpPr/>
          <p:nvPr/>
        </p:nvCxnSpPr>
        <p:spPr>
          <a:xfrm>
            <a:off x="2605983" y="3772209"/>
            <a:ext cx="337752" cy="5013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589AC2B1-DDC3-66AC-736B-7D6378E96B6C}"/>
              </a:ext>
            </a:extLst>
          </p:cNvPr>
          <p:cNvCxnSpPr/>
          <p:nvPr/>
        </p:nvCxnSpPr>
        <p:spPr>
          <a:xfrm>
            <a:off x="4492415" y="3759669"/>
            <a:ext cx="1873716" cy="49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2C99C31-0012-AE4A-CAC4-D6CD0C011318}"/>
              </a:ext>
            </a:extLst>
          </p:cNvPr>
          <p:cNvCxnSpPr/>
          <p:nvPr/>
        </p:nvCxnSpPr>
        <p:spPr>
          <a:xfrm>
            <a:off x="5431782" y="3766642"/>
            <a:ext cx="2661639" cy="479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B28856AD-3D60-E734-29BB-F493581FBECC}"/>
              </a:ext>
            </a:extLst>
          </p:cNvPr>
          <p:cNvCxnSpPr/>
          <p:nvPr/>
        </p:nvCxnSpPr>
        <p:spPr>
          <a:xfrm>
            <a:off x="3521245" y="3766642"/>
            <a:ext cx="1036985" cy="49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AEC9DF72-865A-C078-5664-088E5958542D}"/>
              </a:ext>
            </a:extLst>
          </p:cNvPr>
          <p:cNvCxnSpPr/>
          <p:nvPr/>
        </p:nvCxnSpPr>
        <p:spPr>
          <a:xfrm>
            <a:off x="2554334" y="2056964"/>
            <a:ext cx="13943" cy="77242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14F2D13A-CC4E-FC8E-CB6F-6484E2FBDA61}"/>
              </a:ext>
            </a:extLst>
          </p:cNvPr>
          <p:cNvCxnSpPr/>
          <p:nvPr/>
        </p:nvCxnSpPr>
        <p:spPr>
          <a:xfrm>
            <a:off x="3542163" y="2058521"/>
            <a:ext cx="38383" cy="776279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D4346951-D394-B5A2-A075-66DBA2136949}"/>
              </a:ext>
            </a:extLst>
          </p:cNvPr>
          <p:cNvCxnSpPr/>
          <p:nvPr/>
        </p:nvCxnSpPr>
        <p:spPr>
          <a:xfrm>
            <a:off x="4476514" y="2056964"/>
            <a:ext cx="12794" cy="780949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E8908FF4-0256-F689-448E-00472B417321}"/>
              </a:ext>
            </a:extLst>
          </p:cNvPr>
          <p:cNvCxnSpPr/>
          <p:nvPr/>
        </p:nvCxnSpPr>
        <p:spPr>
          <a:xfrm>
            <a:off x="5410864" y="2056965"/>
            <a:ext cx="20918" cy="794894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054558A6-9451-9941-DC4A-C2082428D1E7}"/>
              </a:ext>
            </a:extLst>
          </p:cNvPr>
          <p:cNvCxnSpPr/>
          <p:nvPr/>
        </p:nvCxnSpPr>
        <p:spPr>
          <a:xfrm>
            <a:off x="6345214" y="2049992"/>
            <a:ext cx="12794" cy="801867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C4BCD4C2-4F1B-491C-F723-7F5A73E8B660}"/>
              </a:ext>
            </a:extLst>
          </p:cNvPr>
          <p:cNvCxnSpPr/>
          <p:nvPr/>
        </p:nvCxnSpPr>
        <p:spPr>
          <a:xfrm>
            <a:off x="7331487" y="2056965"/>
            <a:ext cx="18767" cy="786453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F68CDC43-1476-E919-E3A1-851D6A493D68}"/>
              </a:ext>
            </a:extLst>
          </p:cNvPr>
          <p:cNvCxnSpPr/>
          <p:nvPr/>
        </p:nvCxnSpPr>
        <p:spPr>
          <a:xfrm>
            <a:off x="722231" y="2049331"/>
            <a:ext cx="12794" cy="794454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F2CE17A2-1A76-4C61-AA93-E1B760D3B71C}"/>
              </a:ext>
            </a:extLst>
          </p:cNvPr>
          <p:cNvCxnSpPr/>
          <p:nvPr/>
        </p:nvCxnSpPr>
        <p:spPr>
          <a:xfrm>
            <a:off x="1652104" y="2067387"/>
            <a:ext cx="12794" cy="776398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440CBB3-8972-2AA5-AD0D-08E572EE1CBF}"/>
              </a:ext>
            </a:extLst>
          </p:cNvPr>
          <p:cNvCxnSpPr/>
          <p:nvPr/>
        </p:nvCxnSpPr>
        <p:spPr>
          <a:xfrm>
            <a:off x="8269550" y="2058359"/>
            <a:ext cx="12794" cy="794454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Technology Stack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E8C"/>
                </a:solidFill>
              </a:rPr>
              <a:t>Why each tool was chosen</a:t>
            </a:r>
            <a:endParaRPr lang="en-US" sz="1200"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Team 7  |  Mansi &amp; Samyak  |  AI Subscription &amp; Auto-Debit Intelligence System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15568"/>
            <a:ext cx="64008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61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Python 3.11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463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</a:rPr>
              <a:t>Core Language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06040" y="120700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Rich ML/NLP ecosystem, fast prototyping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1115568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115568"/>
            <a:ext cx="64008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161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Faker (en_IN)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1463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</a:rPr>
              <a:t>Data Generation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40880" y="120700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Realistic Indian banking transaction simulation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029968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029968"/>
            <a:ext cx="64008" cy="80467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0756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Pandas + NumPy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2377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7E8C"/>
                </a:solidFill>
              </a:rPr>
              <a:t>Data Processing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06040" y="212140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Fast vectorised operations on 137K rows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2029968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029968"/>
            <a:ext cx="64008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20756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spaCy + TF-IDF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37760" y="2377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NLP (FR3)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40880" y="212140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Lemmatization + n-gram text features for sub detection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2944368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2944368"/>
            <a:ext cx="64008" cy="8046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29900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Scikit-learn LR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" y="3291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Classifier (FR3)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606040" y="303580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Fast, interpretable; 99.81% accuracy on imbalanced data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2944368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2944368"/>
            <a:ext cx="64008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29900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ARIMA(1,0,0)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937760" y="3291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</a:rPr>
              <a:t>Time Series (FR5)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040880" y="303580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AR(1) optimal for stationary subscription amounts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" y="3858768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0040" y="3858768"/>
            <a:ext cx="64008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3904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Gradient Boosting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02920" y="42062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</a:rPr>
              <a:t>Risk Model (FR6)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606040" y="395020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Handles non-linear risk features; 95th-pct normalization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54880" y="3858768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54880" y="3858768"/>
            <a:ext cx="64008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37760" y="3904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Streamlit + Plotly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937760" y="42062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Dashboard (FR9)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040880" y="395020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Rapid interactive UI with real-time chart rendering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 — Generation &amp; Structure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74289" y="713232"/>
            <a:ext cx="8429540" cy="36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7E8C"/>
                </a:solidFill>
              </a:rPr>
              <a:t>Synthetic banking dataset built with Faker</a:t>
            </a:r>
            <a:endParaRPr lang="en-US" sz="1200" b="1">
              <a:solidFill>
                <a:srgbClr val="0A7E8C"/>
              </a:solidFill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Team 7  |  Mansi &amp; Samyak  |  AI Subscription &amp; Auto-Debit Intelligence System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078992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78992"/>
            <a:ext cx="64008" cy="356616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704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Dataset Fields (FR1 + BRD §12)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1536192"/>
            <a:ext cx="1143000" cy="256032"/>
          </a:xfrm>
          <a:prstGeom prst="rect">
            <a:avLst/>
          </a:prstGeom>
          <a:solidFill>
            <a:srgbClr val="EBF5FB"/>
          </a:solidFill>
          <a:ln w="6350">
            <a:solidFill>
              <a:srgbClr val="0A7E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53619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7E8C"/>
                </a:solidFill>
              </a:rPr>
              <a:t>CustomerID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719072" y="15361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Unique customer identifier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1856232"/>
            <a:ext cx="1143000" cy="256032"/>
          </a:xfrm>
          <a:prstGeom prst="rect">
            <a:avLst/>
          </a:prstGeom>
          <a:solidFill>
            <a:srgbClr val="EBF5FB"/>
          </a:solidFill>
          <a:ln w="6350">
            <a:solidFill>
              <a:srgbClr val="0A7E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85623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7E8C"/>
                </a:solidFill>
              </a:rPr>
              <a:t>TransactionID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719072" y="18562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Unique transaction UUID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2176272"/>
            <a:ext cx="1143000" cy="256032"/>
          </a:xfrm>
          <a:prstGeom prst="rect">
            <a:avLst/>
          </a:prstGeom>
          <a:solidFill>
            <a:srgbClr val="EBF5FB"/>
          </a:solidFill>
          <a:ln w="6350">
            <a:solidFill>
              <a:srgbClr val="0A7E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17627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7E8C"/>
                </a:solidFill>
              </a:rPr>
              <a:t>Date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719072" y="21762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Jan 2023 – Jun 2024 (18 months)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2496312"/>
            <a:ext cx="1143000" cy="256032"/>
          </a:xfrm>
          <a:prstGeom prst="rect">
            <a:avLst/>
          </a:prstGeom>
          <a:solidFill>
            <a:srgbClr val="EBF5FB"/>
          </a:solidFill>
          <a:ln w="6350">
            <a:solidFill>
              <a:srgbClr val="0A7E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49631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7E8C"/>
                </a:solidFill>
              </a:rPr>
              <a:t>Description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719072" y="24963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Merchant-style transaction text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2816352"/>
            <a:ext cx="1143000" cy="256032"/>
          </a:xfrm>
          <a:prstGeom prst="rect">
            <a:avLst/>
          </a:prstGeom>
          <a:solidFill>
            <a:srgbClr val="EBF5FB"/>
          </a:solidFill>
          <a:ln w="6350">
            <a:solidFill>
              <a:srgbClr val="0A7E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8163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7E8C"/>
                </a:solidFill>
              </a:rPr>
              <a:t>Amount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719072" y="28163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Realistic debit amounts (₹)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3136392"/>
            <a:ext cx="1143000" cy="256032"/>
          </a:xfrm>
          <a:prstGeom prst="rect">
            <a:avLst/>
          </a:prstGeom>
          <a:solidFill>
            <a:srgbClr val="EBF5FB"/>
          </a:solidFill>
          <a:ln w="6350">
            <a:solidFill>
              <a:srgbClr val="0A7E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13639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7E8C"/>
                </a:solidFill>
              </a:rPr>
              <a:t>Balance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719072" y="31363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Running account balance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2920" y="3456432"/>
            <a:ext cx="1143000" cy="256032"/>
          </a:xfrm>
          <a:prstGeom prst="rect">
            <a:avLst/>
          </a:prstGeom>
          <a:solidFill>
            <a:srgbClr val="EBF5FB"/>
          </a:solidFill>
          <a:ln w="6350">
            <a:solidFill>
              <a:srgbClr val="0A7E8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45643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7E8C"/>
                </a:solidFill>
              </a:rPr>
              <a:t>Merchant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719072" y="34564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OTT / Utility / SaaS vendor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02920" y="3776472"/>
            <a:ext cx="1143000" cy="256032"/>
          </a:xfrm>
          <a:prstGeom prst="rect">
            <a:avLst/>
          </a:prstGeom>
          <a:solidFill>
            <a:srgbClr val="EBF5FB"/>
          </a:solidFill>
          <a:ln w="6350">
            <a:solidFill>
              <a:srgbClr val="0A7E8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77647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7E8C"/>
                </a:solidFill>
              </a:rPr>
              <a:t>SubscriptionFlag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719072" y="37764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Binary label (0 / 1)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02920" y="4096512"/>
            <a:ext cx="1143000" cy="256032"/>
          </a:xfrm>
          <a:prstGeom prst="rect">
            <a:avLst/>
          </a:prstGeom>
          <a:solidFill>
            <a:srgbClr val="EBF5FB"/>
          </a:solidFill>
          <a:ln w="6350">
            <a:solidFill>
              <a:srgbClr val="0A7E8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09651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7E8C"/>
                </a:solidFill>
              </a:rPr>
              <a:t>Status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719072" y="40965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SUCCESS / FAILED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63440" y="1078992"/>
            <a:ext cx="4160520" cy="1600200"/>
          </a:xfrm>
          <a:prstGeom prst="rect">
            <a:avLst/>
          </a:prstGeom>
          <a:solidFill>
            <a:srgbClr val="0D1B3E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800600" y="11704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Dataset at a Glance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0060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</a:rPr>
              <a:t>137,806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4800600" y="1783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Total Transactions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76656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</a:rPr>
              <a:t>1,200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766560" y="1783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Unique Customers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00600" y="20208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</a:rPr>
              <a:t>75,428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4800600" y="22951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Subscription Rows (54.7%)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766560" y="20208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</a:rPr>
              <a:t>18 mo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6766560" y="22951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Date Range (2023–2024)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788920"/>
            <a:ext cx="4160520" cy="1856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800600" y="2852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Top Merchants by Volume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754880" y="320040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AnytimeFitness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035040" y="3236976"/>
            <a:ext cx="2286000" cy="18288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66760" y="32004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13,113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754880" y="347472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TimesOfIndia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035040" y="3511296"/>
            <a:ext cx="2281428" cy="18288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362188" y="34747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13,096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754880" y="374904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Apple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035040" y="3785616"/>
            <a:ext cx="564642" cy="18288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45402" y="374904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3,240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754880" y="402336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CultFit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035040" y="4059936"/>
            <a:ext cx="548640" cy="18288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629400" y="402336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3,150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754880" y="429768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Dropbox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035040" y="4334256"/>
            <a:ext cx="544068" cy="18288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624828" y="429768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3,114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Pipeline Walkthrough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Team 7  |  Mansi &amp; Samyak  |  AI Subscription &amp; Auto-Debit Intelligence System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1510" y="1607843"/>
            <a:ext cx="4251960" cy="103736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1510" y="1607843"/>
            <a:ext cx="384048" cy="103736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1510" y="1607843"/>
            <a:ext cx="384048" cy="103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2C39A"/>
                </a:solidFill>
              </a:rPr>
              <a:t>1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68710" y="1653563"/>
            <a:ext cx="3657600" cy="348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FR1  Synthetic Data Generation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8710" y="1909595"/>
            <a:ext cx="3657600" cy="527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Faker (en_IN) produces 137,806 transactions across 1,200 customers with realistic merchant descriptions, amounts, and balance fluctuations over 18 months.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29290" y="1607843"/>
            <a:ext cx="4251960" cy="1045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29290" y="1607843"/>
            <a:ext cx="384048" cy="104589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29290" y="1607843"/>
            <a:ext cx="384048" cy="1045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2C39A"/>
                </a:solidFill>
              </a:rPr>
              <a:t>2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186490" y="1653563"/>
            <a:ext cx="3657600" cy="348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FR2  Data Cleaning &amp; Normalisation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86490" y="1909595"/>
            <a:ext cx="3657600" cy="536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Null handling, description lowercasing, whitespace removal, duplicate detection. Outputs transactions_cleaned.csv for downstream modules.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11510" y="1607843"/>
            <a:ext cx="4251960" cy="103736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1510" y="1607843"/>
            <a:ext cx="384048" cy="103736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1510" y="1607843"/>
            <a:ext cx="384048" cy="103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02C39A"/>
                </a:solidFill>
                <a:ea typeface="Calibri"/>
                <a:cs typeface="Calibri"/>
              </a:rPr>
              <a:t>1</a:t>
            </a:r>
            <a:endParaRPr lang="en-US" b="1" dirty="0">
              <a:solidFill>
                <a:srgbClr val="02C39A"/>
              </a:solidFill>
              <a:ea typeface="Calibri"/>
              <a:cs typeface="Calibr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68710" y="1653563"/>
            <a:ext cx="3657600" cy="348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FR3  NLP Subscription Detection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68710" y="1969304"/>
            <a:ext cx="3657600" cy="527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64748B"/>
                </a:solidFill>
              </a:rPr>
              <a:t>TF-IDF (1–3 gram, 8,000 features) + Logistic Regression pipeline. </a:t>
            </a:r>
            <a:r>
              <a:rPr lang="en-US" sz="1000" dirty="0" err="1">
                <a:solidFill>
                  <a:srgbClr val="64748B"/>
                </a:solidFill>
              </a:rPr>
              <a:t>spaCy</a:t>
            </a:r>
            <a:r>
              <a:rPr lang="en-US" sz="1000" dirty="0">
                <a:solidFill>
                  <a:srgbClr val="64748B"/>
                </a:solidFill>
              </a:rPr>
              <a:t> lemmatization for text </a:t>
            </a:r>
            <a:r>
              <a:rPr lang="en-US" sz="1000" dirty="0" err="1">
                <a:solidFill>
                  <a:srgbClr val="64748B"/>
                </a:solidFill>
              </a:rPr>
              <a:t>normalisation</a:t>
            </a:r>
            <a:r>
              <a:rPr lang="en-US" sz="1000" dirty="0">
                <a:solidFill>
                  <a:srgbClr val="64748B"/>
                </a:solidFill>
              </a:rPr>
              <a:t>. False-positive filter for salary/refund keywords. Accuracy: 99.81%.</a:t>
            </a:r>
            <a:endParaRPr lang="en-US" sz="1000">
              <a:ea typeface="Calibri"/>
              <a:cs typeface="Calibri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729290" y="1607843"/>
            <a:ext cx="4251960" cy="1045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29290" y="1607843"/>
            <a:ext cx="384048" cy="104589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29290" y="1607843"/>
            <a:ext cx="384048" cy="1045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02C39A"/>
                </a:solidFill>
              </a:rPr>
              <a:t>2</a:t>
            </a:r>
            <a:endParaRPr lang="en-US" b="1">
              <a:solidFill>
                <a:srgbClr val="02C39A"/>
              </a:solidFill>
              <a:ea typeface="Calibri"/>
              <a:cs typeface="Calibri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186490" y="1653563"/>
            <a:ext cx="3657600" cy="348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FR4  Recurring Pattern Detection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186490" y="1994894"/>
            <a:ext cx="3657600" cy="536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64748B"/>
                </a:solidFill>
              </a:rPr>
              <a:t>Groups transactions by </a:t>
            </a:r>
            <a:r>
              <a:rPr lang="en-US" sz="1000" dirty="0" err="1">
                <a:solidFill>
                  <a:srgbClr val="64748B"/>
                </a:solidFill>
              </a:rPr>
              <a:t>CustomerID</a:t>
            </a:r>
            <a:r>
              <a:rPr lang="en-US" sz="1000" dirty="0">
                <a:solidFill>
                  <a:srgbClr val="64748B"/>
                </a:solidFill>
              </a:rPr>
              <a:t> + Merchant. Confirms recurring if ≥3 occurrences. Detects monthly/weekly frequency. 74,582 patterns confirmed.</a:t>
            </a:r>
            <a:endParaRPr lang="en-US" sz="1000">
              <a:ea typeface="Calibri"/>
              <a:cs typeface="Calibri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45630" y="3265500"/>
            <a:ext cx="4251960" cy="1045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5630" y="3265500"/>
            <a:ext cx="384048" cy="104589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5630" y="3265500"/>
            <a:ext cx="384048" cy="1045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2C39A"/>
                </a:solidFill>
              </a:rPr>
              <a:t>5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02830" y="3532996"/>
            <a:ext cx="3657600" cy="348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FR5  Debit Prediction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02830" y="3720789"/>
            <a:ext cx="3657600" cy="5448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Next date: Linear Regression (70%) blended with median gap (30%). Next amount: ARIMA(1,0,0) for stationary series. 3,067 of 3,068 predictions used ARIMA.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3265500"/>
            <a:ext cx="4251960" cy="1045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3265500"/>
            <a:ext cx="384048" cy="104589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265500"/>
            <a:ext cx="384048" cy="1045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2C39A"/>
                </a:solidFill>
              </a:rPr>
              <a:t>6</a:t>
            </a: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212080" y="3532996"/>
            <a:ext cx="3657600" cy="348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FR6  Risk Scoring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12080" y="3729319"/>
            <a:ext cx="3657600" cy="536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Gradient Boosting with 8 features. Composite score via 95th-percentile normalisation anchors (fixes collapse bug). Outputs Low / Medium / High labels.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45630" y="3265500"/>
            <a:ext cx="4251960" cy="1045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45630" y="3265500"/>
            <a:ext cx="384048" cy="104589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5630" y="3265500"/>
            <a:ext cx="384048" cy="1045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02C39A"/>
                </a:solidFill>
              </a:rPr>
              <a:t>3</a:t>
            </a:r>
            <a:endParaRPr lang="en-US" b="1">
              <a:solidFill>
                <a:srgbClr val="02C39A"/>
              </a:solidFill>
              <a:ea typeface="Calibri"/>
              <a:cs typeface="Calibri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02830" y="3379459"/>
            <a:ext cx="3657600" cy="348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FR7+8  Alerts &amp; Insights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02830" y="3720789"/>
            <a:ext cx="3657600" cy="5448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64748B"/>
                </a:solidFill>
              </a:rPr>
              <a:t>Structured Phi-2 style alerts with merchant, amount, risk, and suggestion. FR8 generates plain-language insight messages per customer.</a:t>
            </a:r>
            <a:endParaRPr lang="en-US" sz="1000">
              <a:ea typeface="Calibri"/>
              <a:cs typeface="Calibri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4754880" y="3265500"/>
            <a:ext cx="4251960" cy="1045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54880" y="3265500"/>
            <a:ext cx="384048" cy="104589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3265500"/>
            <a:ext cx="384048" cy="1045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02C39A"/>
                </a:solidFill>
              </a:rPr>
              <a:t>4</a:t>
            </a:r>
            <a:endParaRPr lang="en-US" b="1">
              <a:solidFill>
                <a:srgbClr val="02C39A"/>
              </a:solidFill>
              <a:ea typeface="Calibri"/>
              <a:cs typeface="Calibri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5212080" y="3379459"/>
            <a:ext cx="3657600" cy="348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FR9  </a:t>
            </a:r>
            <a:r>
              <a:rPr lang="en-US" sz="1400" b="1" dirty="0" err="1">
                <a:solidFill>
                  <a:srgbClr val="1E293B"/>
                </a:solidFill>
              </a:rPr>
              <a:t>Streamlit</a:t>
            </a:r>
            <a:r>
              <a:rPr lang="en-US" sz="1400" b="1" dirty="0">
                <a:solidFill>
                  <a:srgbClr val="1E293B"/>
                </a:solidFill>
              </a:rPr>
              <a:t> Dashboard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5212080" y="3703729"/>
            <a:ext cx="3657600" cy="536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64748B"/>
                </a:solidFill>
              </a:rPr>
              <a:t>Login page → sidebar nav → global filters → 4 sections (Active Subs, Upcoming Debits, Risk Alerts, Monthly Spend) → popup risk cards → footer.</a:t>
            </a:r>
            <a:endParaRPr lang="en-US" sz="10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Dashboard Demo — FR9 Streamlit UI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E8C"/>
                </a:solidFill>
              </a:rPr>
              <a:t>Login → Sidebar → Filters → Risk Cards → Spend Charts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Team 7  |  Mansi &amp; Samyak  |  AI Subscription &amp; Auto-Debit Intelligence System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078992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78992"/>
            <a:ext cx="64008" cy="13716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078992"/>
            <a:ext cx="265176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0789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Login Page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768" y="14630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Username/password authentication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Sessions state via st.session_state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54680" y="1078992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1078992"/>
            <a:ext cx="64008" cy="13716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54680" y="1078992"/>
            <a:ext cx="2651760" cy="3200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10789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Active Subscriptions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64408" y="14630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Filterable table of detected subs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Merchant, frequency, amount columns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89320" y="1078992"/>
            <a:ext cx="2834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89320" y="1078992"/>
            <a:ext cx="64008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89320" y="1078992"/>
            <a:ext cx="283464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10789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Upcoming Debits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99048" y="14630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Next debit date + predicted amount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Sorted by urgency (nearest date first)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2578608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578608"/>
            <a:ext cx="64008" cy="1691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2578608"/>
            <a:ext cx="2651760" cy="320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5786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 Alert Cards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9768" y="2962656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Popup-style cards per customer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Colour coded: 🔴 High 🟡 Med 🟢 Low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259 High / 595 Medium / 346 Low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154680" y="2578608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54680" y="2578608"/>
            <a:ext cx="64008" cy="1691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54680" y="2578608"/>
            <a:ext cx="2651760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46120" y="25786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Monthly Spend Chart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64408" y="2962656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Plotly bar chart — spend per month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Drilldown by merchant category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Total: configurable by customer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89320" y="2578608"/>
            <a:ext cx="2834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989320" y="2578608"/>
            <a:ext cx="64008" cy="1691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89320" y="2578608"/>
            <a:ext cx="2834640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80760" y="25786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GenAI Alerts (FR7)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099048" y="2962656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Structured Phi-2 alerts panel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Merchant | Amount | Risk | Suggestion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1,200 alerts across 1,200 customers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Model &amp; AI Results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E8C"/>
                </a:solidFill>
              </a:rPr>
              <a:t>Real metrics from the trained pipeline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Team 7  |  Mansi &amp; Samyak  |  AI Subscription &amp; Auto-Debit Intelligence System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078992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78992"/>
            <a:ext cx="64008" cy="150876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521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FR3 — NLP Subscription Detection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46304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7E8C"/>
                </a:solidFill>
              </a:rPr>
              <a:t>99.81%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194560" y="15361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Accuracy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(Target: &gt;90%  ✅ Exceeded)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04825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Model: TF-IDF (1–3 gram) + Logistic Regression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Vectorizer: 8,000 features, sublinear TF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False-positive filter: salary, refund, bonus keywords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078992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078992"/>
            <a:ext cx="64008" cy="1508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1521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FR5 — Debit Prediction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1481328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</a:rPr>
              <a:t>3,068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846320" y="1865376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Predictions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66560" y="1481328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</a:rPr>
              <a:t>99.97%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766560" y="1865376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Used ARIMA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21671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ARIMA(1,0,0) — AR(1) optimal for stationary subscription series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Date blend: 70% Linear Regression + 30% Median gap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274320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743200"/>
            <a:ext cx="64008" cy="1920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8163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FR6 — Risk Distribution (1,200 Customers)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318211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High Risk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737360" y="3236976"/>
            <a:ext cx="462001" cy="2377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90801" y="318211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</a:rPr>
              <a:t>259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362102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Medium Risk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737360" y="3675888"/>
            <a:ext cx="1065825" cy="2377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94625" y="362102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</a:rPr>
              <a:t>595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2920" y="405993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Low Risk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737360" y="4114800"/>
            <a:ext cx="618866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47666" y="405993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59669"/>
                </a:solidFill>
              </a:rPr>
              <a:t>346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663440" y="2743200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2743200"/>
            <a:ext cx="64008" cy="1920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28163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FR7 — GenAI Alerts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46320" y="314553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C2626"/>
                </a:solidFill>
              </a:rPr>
              <a:t>1,200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4846320" y="3611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Alerts Generated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00600" y="3913632"/>
            <a:ext cx="3886200" cy="658368"/>
          </a:xfrm>
          <a:prstGeom prst="rect">
            <a:avLst/>
          </a:prstGeom>
          <a:solidFill>
            <a:srgbClr val="FEF2F2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3931920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</a:rPr>
              <a:t>⚠ Upcoming Debit: </a:t>
            </a:r>
            <a:r>
              <a:rPr lang="en-US" sz="950" dirty="0">
                <a:solidFill>
                  <a:srgbClr val="1E293B"/>
                </a:solidFill>
              </a:rPr>
              <a:t>Amazon ₹499  |  Risk: Medium balance
</a:t>
            </a:r>
            <a:r>
              <a:rPr lang="en-US" sz="950" b="1" dirty="0">
                <a:solidFill>
                  <a:srgbClr val="D97706"/>
                </a:solidFill>
              </a:rPr>
              <a:t>Suggestion: </a:t>
            </a:r>
            <a:r>
              <a:rPr lang="en-US" sz="950" dirty="0">
                <a:solidFill>
                  <a:srgbClr val="1E293B"/>
                </a:solidFill>
              </a:rPr>
              <a:t>Add funds before 2 days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Challenges Faced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Team 7  |  Mansi &amp; Samyak  |  AI Subscription &amp; Auto-Debit Intelligence System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078992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78992"/>
            <a:ext cx="64008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2471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</a:rPr>
              <a:t>Problem: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25880" y="112471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Risk Score Collapse (FR6)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1399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Gradient Boosting predict_proba outputs were near-certain (all 0.0 or 1.0), causing scores to cluster at extremes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51960" y="1124712"/>
            <a:ext cx="64008" cy="5486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07408" y="112471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</a:rPr>
              <a:t>✅ Fix: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10912" y="112471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Replaced absolute thresholds with 95th-percentile dataset-relative </a:t>
            </a:r>
            <a:r>
              <a:rPr lang="en-US" sz="1000">
                <a:solidFill>
                  <a:srgbClr val="1E293B"/>
                </a:solidFill>
              </a:rPr>
              <a:t>normalization</a:t>
            </a:r>
            <a:r>
              <a:rPr lang="en-US" sz="1000" dirty="0">
                <a:solidFill>
                  <a:srgbClr val="1E293B"/>
                </a:solidFill>
              </a:rPr>
              <a:t> anchors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306472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306472"/>
            <a:ext cx="64008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35219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</a:rPr>
              <a:t>Problem: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25880" y="235219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Wrong ARIMA Order (FR5)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2626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Initial ARIMA(1,1,1) applied differencing to already-stationary subscription amounts → degraded forecasts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51960" y="2352192"/>
            <a:ext cx="64008" cy="5486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07408" y="235219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</a:rPr>
              <a:t>✅ Fix: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10912" y="235219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Corrected to ARIMA(1,0,0) — no integration term needed. 99.97% predictions now use this model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568071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568071"/>
            <a:ext cx="64008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613791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Problem: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325880" y="3613791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NLP False Positives (FR3)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3879581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Salary credits, NEFT/IMPS transfers, and refunds were flagged as subscriptions by the TF-IDF model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251960" y="3613791"/>
            <a:ext cx="64008" cy="5486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07408" y="3613791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</a:rPr>
              <a:t>✅ Fix: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10912" y="3613791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Added explicit false-positive filter set: {salary, refund, neft, imps, rtgs, dividend, bonus}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Learnings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Team 7  |  Mansi &amp; Samyak  |  AI Subscription &amp; Auto-Debit Intelligence System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15568"/>
            <a:ext cx="2743200" cy="38404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1155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🧠  NLP Pipeline Design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9768" y="1554480"/>
            <a:ext cx="25237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Building an end-to-end text classification pipeline — from raw descriptions to production-ready saved models — with spaCy lemmatization and TF-IDF vectorization.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115568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115568"/>
            <a:ext cx="27432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1155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📈  Time Series Fundamentals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10128" y="1554480"/>
            <a:ext cx="25237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Understanding stationarity and choosing the right ARIMA order matters enormously. ARIMA(1,0,0) vs (1,1,1) changed prediction quality completely.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1115568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115568"/>
            <a:ext cx="274320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1155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⚠  ML Debugging in Production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190488" y="1554480"/>
            <a:ext cx="25237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Risk score collapse taught us to always inspect model output distributions and use dataset-relative normalisation, not hard-coded thresholds.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834640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834640"/>
            <a:ext cx="274320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8346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🏗  Full-Stack ML Engineering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29768" y="3273552"/>
            <a:ext cx="25237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Connecting nine modules (data → NLP → ML → GenAI → UI) with clean file I/O contracts, saved .pkl models, and a BRD-driven architecture.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2834640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834640"/>
            <a:ext cx="274320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28346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🖥  Streamlit UI Best Practices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310128" y="3273552"/>
            <a:ext cx="25237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Real-world dashboard tradeoffs: sidebar vs navbar, native containers over custom HTML, session_state for login, and keeping code under 400 lines.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80760" y="2834640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80760" y="2834640"/>
            <a:ext cx="274320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28346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📊  Data Simulation Realism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190488" y="3273552"/>
            <a:ext cx="25237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Generating 137K synthetic transactions with realistic Indian merchant names, balance fluctuations, and failure patterns using Faker (en_IN locale).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Future Improvements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Team 7  |  Mansi &amp; Samyak  |  AI Subscription &amp; Auto-Debit Intelligence System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4450" y="1215674"/>
            <a:ext cx="27432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5890" y="130711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🏦  Real Bank API Integration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85890" y="1691162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Connect to Plaid / RazorpayX APIs to replace synthetic data with live transaction feeds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74810" y="1215674"/>
            <a:ext cx="27432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66250" y="130711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🔔  Push Notification System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66250" y="1691162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WhatsApp / SMS alerts 48 hours before predicted auto-debit using Twilio or MSG91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55170" y="1215674"/>
            <a:ext cx="27432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46610" y="130711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🤖  LLM-Powered Alert Generator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146610" y="1691162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Replace rule-based Phi-2 fallback with a fine-tuned LLM for richer, contextual alerts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94450" y="2843306"/>
            <a:ext cx="27432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85890" y="293474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❌  Subscription Cancellation CTA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85890" y="3318794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Add one-click unsubscribe suggestions for redundant or low-engagement subscriptions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74810" y="2843306"/>
            <a:ext cx="27432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266250" y="293474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🔗  Multi-Bank Dashboard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266250" y="3318794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Aggregate subscriptions across multiple bank accounts with de-duplication logic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55170" y="2843306"/>
            <a:ext cx="27432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146610" y="293474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🔍  Anomaly Detection Layer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146610" y="3318794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Flag unexpected one-time charges masquerading as subscriptions using Isolation Forest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5486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 You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914400" y="1463040"/>
            <a:ext cx="41148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2763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A7E8C"/>
                </a:solidFill>
              </a:rPr>
              <a:t>AI Subscription &amp; Auto-Debit Intelligence System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0848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Team 7  |  Mansi &amp; Samyak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Subscription &amp; Auto-Debit Intelligence System</dc:title>
  <dc:subject>PptxGenJS Presentation</dc:subject>
  <dc:creator>Team 7 - Mansi &amp; Samyak</dc:creator>
  <cp:lastModifiedBy>Team 7 - Mansi &amp; Samyak</cp:lastModifiedBy>
  <cp:revision>182</cp:revision>
  <dcterms:created xsi:type="dcterms:W3CDTF">2026-04-01T16:44:41Z</dcterms:created>
  <dcterms:modified xsi:type="dcterms:W3CDTF">2026-04-02T15:30:44Z</dcterms:modified>
</cp:coreProperties>
</file>